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254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138FF-65CC-01DE-23F4-538B49DA9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41DAB1-1BE3-77EC-B187-B2613BC21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2CE7D-B545-6555-3EF6-921B0298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3C5E2-9ACB-DBAD-9DC7-D6FDBB15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19DD5-AACC-BCD1-421A-C98F0CF9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3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9D52C-620C-8F05-95F4-3A408F93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78C50A-CE7C-9CF9-D0E0-96812CEA4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FA0D15-3729-4E59-385C-CA7E7FE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8B8DC-6E8E-8973-1C32-671CE70C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3081B-CAB2-2ABF-ABAA-467CEC50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38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21985-B7EE-11E0-6DE5-6539CC4D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C7D891-3D3C-C7AA-34AD-355632001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BFD0F5-174C-56F0-C033-F158B0A4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5F0C3-F6E8-2F46-7467-F478B4AF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A3DDF-ECE6-82B7-59E1-CDF7E6C4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23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9333-4A49-2A21-7A88-721FDB37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42EE0-01F4-A6DC-7FEB-5BDD2575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9D84AD-D17E-AE9F-3EA0-09386CE03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B9216-6936-40C4-14F0-D2DB4F5B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CD6EA6-9518-3867-8495-A67FECF8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7CEA94-2D40-EB32-E829-5768891F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105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63A28-3E43-720D-0E84-255FE347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241D2C-203D-53AD-CF70-CEAF1ABE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F3627D-30A7-F6F8-BCEE-35659B5CF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A3A4B4-99F2-A746-77F2-5D350E100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1464E8-8650-CB21-F856-80B6AF0AA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B6A157-3AD3-CFEB-CC5B-2C3DA862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AE0BF7-4BB4-ADBC-D52D-14D8A0B0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5AECBA-4B3A-AE5A-9557-B2FF83EC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89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A0F67-A958-17F6-8C23-ED699D34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5B8241-571C-D0FE-F28C-F48939BD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02BCD8-007E-2F38-3BD5-A4865D54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EA5D94-013C-F133-BFEF-5A1F7D14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00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85A766-75BB-1CA1-9B67-2CCBEB75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2A6C4F-FF04-D4A0-7EB8-B706533D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386B1F-F324-C88B-CD38-1FFFBFD6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11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BB91F-202A-604C-4A21-20311AB95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B38A8-4C63-CD76-D97F-C3938373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D1B081-DA68-3E8C-0C1D-2EDC6C7A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A17BB4-BB3A-237C-DCDC-E69A94AF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3F92B-43F7-C759-2534-D455C450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032EB-BDF9-37D0-3BB5-7ECEF730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37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6DF4A-5863-1F3D-6B0A-B2B05AFB9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190727-8E9F-6BEE-AF67-A193E49E8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ACD330-C779-98D0-BD1A-829013D4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63082C-814F-014F-6997-DE330A89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C61334-4F32-91EA-5759-6225AA9B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CA304F-8B5F-AE3F-B988-77436450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3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5BC28-B72D-7C68-DB3F-AAD6C911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F5B954-5487-E2D8-6592-FA4B93ED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39C4A-9561-C68B-DB88-80F3B482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40357-D62E-C353-2017-90A1AF12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C5965-ECFA-62A5-4FC0-85925EFE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95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9DF3A3-80FC-E496-E6F3-9D3657A69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6627A5-F9BF-9A5F-BE56-790F45D14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84A0F-64BE-BECE-13F8-4780EAEE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43D943-2324-0A28-B6E2-424C1D59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BE328-10A7-1464-C83B-8E6BC41C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08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08A89C-CF6B-84FF-8E4D-0C065330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6DA04C-7B2F-EF60-D69E-6C553C067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FE59F-1F51-6348-DD45-EDB0BB7E2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531A-6CE9-4C5C-B38D-34CDF6EF098B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32548-96F1-190F-8FD3-1F53B611B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DE02D9-8337-FC4E-7555-7D5B1BC44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4C429-D781-45FE-8800-8D194CC72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92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805F568-DA95-9F60-708F-5D6C75EA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5610" y="-4002097"/>
            <a:ext cx="5532120" cy="7080885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3B831249-5A96-1CEE-20BD-563087AE4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02886" y="3985749"/>
            <a:ext cx="5532120" cy="601853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EF5A54CA-16E3-35E7-5176-29133A1670F1}"/>
              </a:ext>
            </a:extLst>
          </p:cNvPr>
          <p:cNvGrpSpPr/>
          <p:nvPr/>
        </p:nvGrpSpPr>
        <p:grpSpPr>
          <a:xfrm>
            <a:off x="2778228" y="-2319782"/>
            <a:ext cx="12449072" cy="9901682"/>
            <a:chOff x="2778228" y="-2319782"/>
            <a:chExt cx="12220472" cy="990168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E6045D8-2AD9-A3B0-5140-19CFB48A4C3F}"/>
                </a:ext>
              </a:extLst>
            </p:cNvPr>
            <p:cNvSpPr/>
            <p:nvPr/>
          </p:nvSpPr>
          <p:spPr>
            <a:xfrm>
              <a:off x="3418788" y="-2319782"/>
              <a:ext cx="5684498" cy="6703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Identification of studies via databases</a:t>
              </a:r>
              <a:endParaRPr lang="ko-KR" altLang="en-US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2D790E-DA49-48DF-1E59-1C80859DAC93}"/>
                </a:ext>
              </a:extLst>
            </p:cNvPr>
            <p:cNvSpPr/>
            <p:nvPr/>
          </p:nvSpPr>
          <p:spPr>
            <a:xfrm>
              <a:off x="3418789" y="-1342019"/>
              <a:ext cx="3207998" cy="2119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identified from databases: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Web of Science (n = 1,010)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Scopus (n = 850)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PubMed (n = 213)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2,073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DCC5391-03C9-8EBD-491D-F3D1D1ECE32E}"/>
                </a:ext>
              </a:extLst>
            </p:cNvPr>
            <p:cNvSpPr/>
            <p:nvPr/>
          </p:nvSpPr>
          <p:spPr>
            <a:xfrm>
              <a:off x="3418789" y="1085406"/>
              <a:ext cx="3207998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screened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1,316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B6B792F-FEE8-5A31-A9E3-5A3F4FD735E0}"/>
                </a:ext>
              </a:extLst>
            </p:cNvPr>
            <p:cNvSpPr/>
            <p:nvPr/>
          </p:nvSpPr>
          <p:spPr>
            <a:xfrm>
              <a:off x="3418789" y="2449630"/>
              <a:ext cx="3207998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sought for retrieval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189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FB07470-9DFC-7105-BB61-FF81C65CFDA0}"/>
                </a:ext>
              </a:extLst>
            </p:cNvPr>
            <p:cNvSpPr/>
            <p:nvPr/>
          </p:nvSpPr>
          <p:spPr>
            <a:xfrm>
              <a:off x="3418789" y="3813854"/>
              <a:ext cx="3207998" cy="2403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assessed for eligibility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100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81E5878-DC6E-EB62-A105-829760C94710}"/>
                </a:ext>
              </a:extLst>
            </p:cNvPr>
            <p:cNvSpPr/>
            <p:nvPr/>
          </p:nvSpPr>
          <p:spPr>
            <a:xfrm>
              <a:off x="6897449" y="-1342019"/>
              <a:ext cx="2205837" cy="2119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Removed before screening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Duplicate records (n = 757)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757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75A5AF1-CEDE-720A-192D-8A187BC87193}"/>
                </a:ext>
              </a:extLst>
            </p:cNvPr>
            <p:cNvSpPr/>
            <p:nvPr/>
          </p:nvSpPr>
          <p:spPr>
            <a:xfrm>
              <a:off x="6897449" y="1085404"/>
              <a:ext cx="2205837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excluded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1,127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A11152A-349C-23A7-617B-EEFB584FACAD}"/>
                </a:ext>
              </a:extLst>
            </p:cNvPr>
            <p:cNvSpPr/>
            <p:nvPr/>
          </p:nvSpPr>
          <p:spPr>
            <a:xfrm>
              <a:off x="6897449" y="2449630"/>
              <a:ext cx="2205837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not retrieved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89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AEC429D-1704-DB32-69EF-5EDC66ACE1D1}"/>
                </a:ext>
              </a:extLst>
            </p:cNvPr>
            <p:cNvSpPr/>
            <p:nvPr/>
          </p:nvSpPr>
          <p:spPr>
            <a:xfrm>
              <a:off x="9314202" y="-2319782"/>
              <a:ext cx="5684498" cy="6703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Identification of studies via other methods</a:t>
              </a:r>
              <a:endParaRPr lang="ko-KR" altLang="en-US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85BEECD-FC42-958B-17A4-3FF85ABB4D55}"/>
                </a:ext>
              </a:extLst>
            </p:cNvPr>
            <p:cNvSpPr/>
            <p:nvPr/>
          </p:nvSpPr>
          <p:spPr>
            <a:xfrm>
              <a:off x="6897449" y="3813854"/>
              <a:ext cx="2205837" cy="2403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excluded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Setting not eligible (n = 7)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observed </a:t>
              </a:r>
              <a:r>
                <a:rPr lang="en-US" altLang="ko-KR" sz="1200" spc="-1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behaviour</a:t>
              </a: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(n = 6)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Perceptual outcome (n = 1)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acoustic exposure (n = 1)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 empirical (n = 1)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16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E1AC1B-327D-EE02-02C0-5FAB05AB2204}"/>
                </a:ext>
              </a:extLst>
            </p:cNvPr>
            <p:cNvSpPr/>
            <p:nvPr/>
          </p:nvSpPr>
          <p:spPr>
            <a:xfrm>
              <a:off x="9314203" y="-1342019"/>
              <a:ext cx="3207998" cy="2119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identified from: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Citation searching (n = 2,073)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Supplementary search of </a:t>
              </a:r>
              <a:r>
                <a:rPr lang="en-US" altLang="ko-KR" sz="1200" spc="-1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OpenAlex</a:t>
              </a: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(n = 352)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2,425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35A8401-6F5F-1140-C928-91A69C968E5C}"/>
                </a:ext>
              </a:extLst>
            </p:cNvPr>
            <p:cNvSpPr/>
            <p:nvPr/>
          </p:nvSpPr>
          <p:spPr>
            <a:xfrm>
              <a:off x="9314203" y="1085406"/>
              <a:ext cx="3207998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screened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757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77259BE-A245-9C11-3378-DB620BA1FA86}"/>
                </a:ext>
              </a:extLst>
            </p:cNvPr>
            <p:cNvSpPr/>
            <p:nvPr/>
          </p:nvSpPr>
          <p:spPr>
            <a:xfrm>
              <a:off x="9314203" y="2449630"/>
              <a:ext cx="3207998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sought for retrieval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94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65AF663-C0DC-CA2C-A94C-FAF2E8E99E28}"/>
                </a:ext>
              </a:extLst>
            </p:cNvPr>
            <p:cNvSpPr/>
            <p:nvPr/>
          </p:nvSpPr>
          <p:spPr>
            <a:xfrm>
              <a:off x="9314203" y="3813854"/>
              <a:ext cx="3207998" cy="2403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assessed for eligibility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59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A2B5E96-3E61-309A-504C-648CF29850ED}"/>
                </a:ext>
              </a:extLst>
            </p:cNvPr>
            <p:cNvSpPr/>
            <p:nvPr/>
          </p:nvSpPr>
          <p:spPr>
            <a:xfrm>
              <a:off x="12792863" y="-1342019"/>
              <a:ext cx="2205837" cy="2119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Removed before screening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Duplicate records (n = 23)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marked as ineligible by automation tools (n = 1,645)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1,668</a:t>
              </a:r>
              <a:endParaRPr lang="ko-KR" altLang="en-US" sz="14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65EBCA-A590-0A44-B88E-8180D266B5B1}"/>
                </a:ext>
              </a:extLst>
            </p:cNvPr>
            <p:cNvSpPr/>
            <p:nvPr/>
          </p:nvSpPr>
          <p:spPr>
            <a:xfrm>
              <a:off x="12792863" y="1085404"/>
              <a:ext cx="2205837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Records excluded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663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4758236-504A-8D2B-741C-52A1DAB9E1DE}"/>
                </a:ext>
              </a:extLst>
            </p:cNvPr>
            <p:cNvSpPr/>
            <p:nvPr/>
          </p:nvSpPr>
          <p:spPr>
            <a:xfrm>
              <a:off x="12792863" y="2449630"/>
              <a:ext cx="2205837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not retrieved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35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BC6673C-8B7D-CD57-A92F-14BBB3BD5322}"/>
                </a:ext>
              </a:extLst>
            </p:cNvPr>
            <p:cNvSpPr/>
            <p:nvPr/>
          </p:nvSpPr>
          <p:spPr>
            <a:xfrm>
              <a:off x="12792863" y="3813854"/>
              <a:ext cx="2205837" cy="2403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sz="14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Reports excluded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acoustic variable (n = 20)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observed </a:t>
              </a:r>
              <a:r>
                <a:rPr lang="en-US" altLang="ko-KR" sz="1200" spc="-1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behaviour</a:t>
              </a: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(n = 18)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2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 in English (n = 3)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4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41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73EDABB-DB45-B6C9-13E6-FFD850AC0027}"/>
                </a:ext>
              </a:extLst>
            </p:cNvPr>
            <p:cNvSpPr/>
            <p:nvPr/>
          </p:nvSpPr>
          <p:spPr>
            <a:xfrm>
              <a:off x="3418788" y="6525127"/>
              <a:ext cx="11579912" cy="10567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Studies included in review (n = 98)</a:t>
              </a:r>
            </a:p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Studies used only in sensitivity analyses (n = 4)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C63D413-A5D5-E395-1F92-D768BF03211C}"/>
                </a:ext>
              </a:extLst>
            </p:cNvPr>
            <p:cNvSpPr/>
            <p:nvPr/>
          </p:nvSpPr>
          <p:spPr>
            <a:xfrm rot="16200000">
              <a:off x="426915" y="3436718"/>
              <a:ext cx="5132273" cy="4296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Screening</a:t>
              </a:r>
              <a:endParaRPr lang="ko-KR" altLang="en-US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60AD069-B9C0-488A-5A47-D8465943CD6F}"/>
                </a:ext>
              </a:extLst>
            </p:cNvPr>
            <p:cNvSpPr/>
            <p:nvPr/>
          </p:nvSpPr>
          <p:spPr>
            <a:xfrm rot="16200000">
              <a:off x="2464663" y="6838691"/>
              <a:ext cx="1056773" cy="4296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Included</a:t>
              </a:r>
              <a:endParaRPr lang="ko-KR" altLang="en-US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006C893-44E7-93A5-2760-6B56016E4AA1}"/>
                </a:ext>
              </a:extLst>
            </p:cNvPr>
            <p:cNvSpPr/>
            <p:nvPr/>
          </p:nvSpPr>
          <p:spPr>
            <a:xfrm rot="16200000">
              <a:off x="1933066" y="-496855"/>
              <a:ext cx="2119968" cy="4296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Identification</a:t>
              </a:r>
              <a:endParaRPr lang="ko-KR" altLang="en-US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7F42120-7E09-CD50-9F8E-537F90658235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5022788" y="777949"/>
              <a:ext cx="0" cy="3074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CF0B8D0-D1DC-8052-F9CE-FCF3D8EC025B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5022788" y="2142179"/>
              <a:ext cx="0" cy="3074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F6BC50B8-DDAD-933C-5EDF-FBE9AE169B4D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5022788" y="3506403"/>
              <a:ext cx="0" cy="3074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5C9BCDA0-8A74-C780-152F-8D5663275F7F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5022787" y="6217676"/>
              <a:ext cx="1" cy="30745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CD37715-243A-9C9F-06C9-0CE1992481AC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10918202" y="777949"/>
              <a:ext cx="0" cy="3074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D1BAE3C3-FBE4-B106-75CC-A4E91F4C00FA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10918202" y="2142179"/>
              <a:ext cx="0" cy="3074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9093A3B-7553-2C6B-CFE8-258A56D7AC8C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10918202" y="3506403"/>
              <a:ext cx="0" cy="3074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4D084EA3-C4A8-0189-119E-619E9A25457B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918202" y="6217676"/>
              <a:ext cx="0" cy="30745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111518D6-9731-AA00-D506-FF59DAE18C8E}"/>
                </a:ext>
              </a:extLst>
            </p:cNvPr>
            <p:cNvCxnSpPr>
              <a:cxnSpLocks/>
              <a:stCxn id="7" idx="3"/>
              <a:endCxn id="11" idx="1"/>
            </p:cNvCxnSpPr>
            <p:nvPr/>
          </p:nvCxnSpPr>
          <p:spPr>
            <a:xfrm>
              <a:off x="6626787" y="-282035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3F95B452-A1E0-884A-BC6A-C96FB28CCFBF}"/>
                </a:ext>
              </a:extLst>
            </p:cNvPr>
            <p:cNvCxnSpPr>
              <a:cxnSpLocks/>
              <a:stCxn id="8" idx="3"/>
              <a:endCxn id="12" idx="1"/>
            </p:cNvCxnSpPr>
            <p:nvPr/>
          </p:nvCxnSpPr>
          <p:spPr>
            <a:xfrm flipV="1">
              <a:off x="6626787" y="1613791"/>
              <a:ext cx="270662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0132EF2-F505-B75A-8B45-3E99CDE4BA29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>
              <a:off x="6626787" y="2978017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42EDCD69-F2A9-49C5-F173-7261BA2AFE56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>
            <a:xfrm>
              <a:off x="6626787" y="5015765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4BE9C428-A057-DC82-A103-94D0BD38013C}"/>
                </a:ext>
              </a:extLst>
            </p:cNvPr>
            <p:cNvCxnSpPr>
              <a:cxnSpLocks/>
              <a:stCxn id="17" idx="3"/>
              <a:endCxn id="21" idx="1"/>
            </p:cNvCxnSpPr>
            <p:nvPr/>
          </p:nvCxnSpPr>
          <p:spPr>
            <a:xfrm>
              <a:off x="12522201" y="-282035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8EEC281E-4095-A99F-2489-10FD3C98C453}"/>
                </a:ext>
              </a:extLst>
            </p:cNvPr>
            <p:cNvCxnSpPr>
              <a:cxnSpLocks/>
              <a:stCxn id="18" idx="3"/>
              <a:endCxn id="22" idx="1"/>
            </p:cNvCxnSpPr>
            <p:nvPr/>
          </p:nvCxnSpPr>
          <p:spPr>
            <a:xfrm flipV="1">
              <a:off x="12522201" y="1613791"/>
              <a:ext cx="270662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231FD535-EB9D-2EEC-D8C7-4D00AA555033}"/>
                </a:ext>
              </a:extLst>
            </p:cNvPr>
            <p:cNvCxnSpPr>
              <a:cxnSpLocks/>
              <a:stCxn id="19" idx="3"/>
              <a:endCxn id="23" idx="1"/>
            </p:cNvCxnSpPr>
            <p:nvPr/>
          </p:nvCxnSpPr>
          <p:spPr>
            <a:xfrm>
              <a:off x="12522201" y="2978017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C70DC696-2504-84EF-BFD4-373CD00EBB5F}"/>
                </a:ext>
              </a:extLst>
            </p:cNvPr>
            <p:cNvCxnSpPr>
              <a:cxnSpLocks/>
              <a:stCxn id="20" idx="3"/>
              <a:endCxn id="24" idx="1"/>
            </p:cNvCxnSpPr>
            <p:nvPr/>
          </p:nvCxnSpPr>
          <p:spPr>
            <a:xfrm>
              <a:off x="12522201" y="5015765"/>
              <a:ext cx="2706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829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06C893-44E7-93A5-2760-6B56016E4AA1}"/>
              </a:ext>
            </a:extLst>
          </p:cNvPr>
          <p:cNvSpPr/>
          <p:nvPr/>
        </p:nvSpPr>
        <p:spPr>
          <a:xfrm rot="16200000">
            <a:off x="1933066" y="-496855"/>
            <a:ext cx="2119968" cy="4296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  <a:endParaRPr lang="ko-KR" altLang="en-US" sz="1600" b="1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826DCDAE-4905-D5BC-0E1C-2BF403BC1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09249" y="-2100677"/>
            <a:ext cx="10576560" cy="8793162"/>
          </a:xfrm>
          <a:prstGeom prst="rect">
            <a:avLst/>
          </a:prstGeom>
        </p:spPr>
      </p:pic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8811DA1A-5B1E-C131-CF77-91F51FF08C2B}"/>
              </a:ext>
            </a:extLst>
          </p:cNvPr>
          <p:cNvGrpSpPr/>
          <p:nvPr/>
        </p:nvGrpSpPr>
        <p:grpSpPr>
          <a:xfrm>
            <a:off x="4241800" y="-1546"/>
            <a:ext cx="13042900" cy="9596481"/>
            <a:chOff x="4241800" y="-1546"/>
            <a:chExt cx="13042900" cy="9596481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75D4915-4162-71AB-E274-48FDA9488B0C}"/>
                </a:ext>
              </a:extLst>
            </p:cNvPr>
            <p:cNvSpPr/>
            <p:nvPr/>
          </p:nvSpPr>
          <p:spPr>
            <a:xfrm>
              <a:off x="4241800" y="6605005"/>
              <a:ext cx="13042900" cy="29899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5986D2B-B7C0-BFF7-B474-796229AFE1C0}"/>
                </a:ext>
              </a:extLst>
            </p:cNvPr>
            <p:cNvSpPr/>
            <p:nvPr/>
          </p:nvSpPr>
          <p:spPr>
            <a:xfrm>
              <a:off x="4241800" y="-1546"/>
              <a:ext cx="13042900" cy="63515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E6045D8-2AD9-A3B0-5140-19CFB48A4C3F}"/>
                </a:ext>
              </a:extLst>
            </p:cNvPr>
            <p:cNvSpPr/>
            <p:nvPr/>
          </p:nvSpPr>
          <p:spPr>
            <a:xfrm>
              <a:off x="4396688" y="0"/>
              <a:ext cx="8709712" cy="9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20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SPATIAL </a:t>
              </a:r>
              <a:r>
                <a:rPr lang="en-US" altLang="ko-KR" sz="20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PHYSICAL  SOCIO-CULTURAL CONTEXT</a:t>
              </a:r>
            </a:p>
            <a:p>
              <a:pPr>
                <a:lnSpc>
                  <a:spcPct val="100000"/>
                </a:lnSpc>
              </a:pPr>
              <a:r>
                <a:rPr lang="en-US" altLang="ko-KR" sz="20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Setting type </a:t>
              </a:r>
              <a:r>
                <a:rPr lang="en-US" altLang="ko-KR" sz="20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visual–acoustic congruence  purpose of stay  time  culture</a:t>
              </a:r>
              <a:endParaRPr lang="ko-KR" altLang="en-US" sz="20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97E410-624E-ACC8-CEEE-B864C9E3148B}"/>
                </a:ext>
              </a:extLst>
            </p:cNvPr>
            <p:cNvSpPr/>
            <p:nvPr/>
          </p:nvSpPr>
          <p:spPr>
            <a:xfrm>
              <a:off x="4396688" y="6605005"/>
              <a:ext cx="8150912" cy="571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2000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Engagement gradient</a:t>
              </a:r>
              <a:endParaRPr lang="en-US" altLang="ko-KR" sz="20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BD75CD7-1FA3-666A-B4F9-85E7AB0AD610}"/>
                </a:ext>
              </a:extLst>
            </p:cNvPr>
            <p:cNvGrpSpPr/>
            <p:nvPr/>
          </p:nvGrpSpPr>
          <p:grpSpPr>
            <a:xfrm>
              <a:off x="4396688" y="7348421"/>
              <a:ext cx="12704538" cy="1440984"/>
              <a:chOff x="4396688" y="6521916"/>
              <a:chExt cx="11795812" cy="144098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82D790E-DA49-48DF-1E59-1C80859DAC93}"/>
                  </a:ext>
                </a:extLst>
              </p:cNvPr>
              <p:cNvSpPr/>
              <p:nvPr/>
            </p:nvSpPr>
            <p:spPr>
              <a:xfrm>
                <a:off x="4396688" y="6521916"/>
                <a:ext cx="2245412" cy="14409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b="1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Avoidance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Speed up 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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Leave</a:t>
                </a:r>
                <a:endParaRPr lang="ko-KR" altLang="en-US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99B0D9D-78BD-7F9D-4B4C-160219073CD0}"/>
                  </a:ext>
                </a:extLst>
              </p:cNvPr>
              <p:cNvSpPr/>
              <p:nvPr/>
            </p:nvSpPr>
            <p:spPr>
              <a:xfrm>
                <a:off x="6784288" y="6521916"/>
                <a:ext cx="2245412" cy="14409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b="1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Passing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Walk through</a:t>
                </a:r>
                <a:endParaRPr lang="ko-KR" altLang="en-US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9EA2F3A-37E6-6536-EE0E-CFB13C96FFB1}"/>
                  </a:ext>
                </a:extLst>
              </p:cNvPr>
              <p:cNvSpPr/>
              <p:nvPr/>
            </p:nvSpPr>
            <p:spPr>
              <a:xfrm>
                <a:off x="9171888" y="6521916"/>
                <a:ext cx="2245412" cy="14409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b="1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Staying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Linger 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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</a:t>
                </a:r>
                <a:endParaRPr lang="ko-KR" altLang="en-US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FE13E8A-27E5-498C-B692-B9D8B43816A5}"/>
                  </a:ext>
                </a:extLst>
              </p:cNvPr>
              <p:cNvSpPr/>
              <p:nvPr/>
            </p:nvSpPr>
            <p:spPr>
              <a:xfrm>
                <a:off x="11559488" y="6521916"/>
                <a:ext cx="2245412" cy="14409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b="1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Interacting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Talk 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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Help</a:t>
                </a:r>
                <a:endParaRPr lang="ko-KR" altLang="en-US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9EA67DD-7058-604E-2DFE-77134AFF368B}"/>
                  </a:ext>
                </a:extLst>
              </p:cNvPr>
              <p:cNvSpPr/>
              <p:nvPr/>
            </p:nvSpPr>
            <p:spPr>
              <a:xfrm>
                <a:off x="13947088" y="6521916"/>
                <a:ext cx="2245412" cy="14409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b="1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Appropriating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Occupy 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</a:t>
                </a:r>
                <a:r>
                  <a:rPr lang="en-US" altLang="ko-KR" sz="1600" spc="-1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Adapt</a:t>
                </a:r>
                <a:endParaRPr lang="ko-KR" altLang="en-US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9D23C95-551D-BBFC-86E0-7BA547C058C1}"/>
                </a:ext>
              </a:extLst>
            </p:cNvPr>
            <p:cNvSpPr/>
            <p:nvPr/>
          </p:nvSpPr>
          <p:spPr>
            <a:xfrm>
              <a:off x="8289914" y="1318140"/>
              <a:ext cx="5166412" cy="977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ACOUSTIC ENVIRONMENT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 composition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Level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Temporal pattern</a:t>
              </a: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9C916F9-3FA8-AA1E-AE2D-D8358630CF12}"/>
                </a:ext>
              </a:extLst>
            </p:cNvPr>
            <p:cNvSpPr/>
            <p:nvPr/>
          </p:nvSpPr>
          <p:spPr>
            <a:xfrm>
              <a:off x="8289914" y="5168638"/>
              <a:ext cx="5166412" cy="977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OBSERVABLE BEHAVIOUR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Movement / Passing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Staying / Space use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Interaction</a:t>
              </a: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7731C7B8-BAAF-9202-2E15-25C0E7E7F7F6}"/>
                </a:ext>
              </a:extLst>
            </p:cNvPr>
            <p:cNvCxnSpPr>
              <a:cxnSpLocks/>
              <a:stCxn id="37" idx="2"/>
              <a:endCxn id="38" idx="0"/>
            </p:cNvCxnSpPr>
            <p:nvPr/>
          </p:nvCxnSpPr>
          <p:spPr>
            <a:xfrm>
              <a:off x="10873120" y="2295904"/>
              <a:ext cx="0" cy="2872734"/>
            </a:xfrm>
            <a:prstGeom prst="straightConnector1">
              <a:avLst/>
            </a:prstGeom>
            <a:ln w="50800">
              <a:solidFill>
                <a:schemeClr val="bg1">
                  <a:lumMod val="65000"/>
                </a:schemeClr>
              </a:solidFill>
              <a:prstDash val="sysDash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FEF3000-93A1-2E53-8384-9EFEB0E0D69B}"/>
                </a:ext>
              </a:extLst>
            </p:cNvPr>
            <p:cNvSpPr/>
            <p:nvPr/>
          </p:nvSpPr>
          <p:spPr>
            <a:xfrm>
              <a:off x="13456326" y="3243389"/>
              <a:ext cx="3644900" cy="977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SOUNDSCAPE APPRAISAL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Perception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Interpretation</a:t>
              </a: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12E46F2-D58A-4075-862A-DD0FECB6B31D}"/>
                </a:ext>
              </a:extLst>
            </p:cNvPr>
            <p:cNvSpPr/>
            <p:nvPr/>
          </p:nvSpPr>
          <p:spPr>
            <a:xfrm>
              <a:off x="4396688" y="2510088"/>
              <a:ext cx="3893225" cy="977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SOUND PRODUCTION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Voices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Activity sound  Amplified sound</a:t>
              </a: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34CACE4-3740-51CE-B656-A1C9860D2AA4}"/>
                </a:ext>
              </a:extLst>
            </p:cNvPr>
            <p:cNvSpPr/>
            <p:nvPr/>
          </p:nvSpPr>
          <p:spPr>
            <a:xfrm>
              <a:off x="4396688" y="3976690"/>
              <a:ext cx="3893225" cy="977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ko-KR" b="1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ACTIVITY &amp; OCCUPANCY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Density </a:t>
              </a:r>
              <a:r>
                <a:rPr lang="en-US" altLang="ko-KR" sz="1600" spc="-1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Programming  Companionship</a:t>
              </a:r>
              <a:endParaRPr lang="ko-KR" altLang="en-US" sz="16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E4CA287-003E-CAF5-9863-29E8DE302D2D}"/>
                </a:ext>
              </a:extLst>
            </p:cNvPr>
            <p:cNvSpPr txBox="1"/>
            <p:nvPr/>
          </p:nvSpPr>
          <p:spPr>
            <a:xfrm>
              <a:off x="4663293" y="9007504"/>
              <a:ext cx="18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spc="-10" dirty="0">
                  <a:latin typeface="Arial" panose="020B0604020202020204" pitchFamily="34" charset="0"/>
                  <a:cs typeface="Arial" panose="020B0604020202020204" pitchFamily="34" charset="0"/>
                </a:rPr>
                <a:t>Less engaged</a:t>
              </a:r>
              <a:endParaRPr lang="ko-KR" altLang="en-US" dirty="0"/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F804D711-E9E5-730F-84D1-F5C13572EC2D}"/>
                </a:ext>
              </a:extLst>
            </p:cNvPr>
            <p:cNvCxnSpPr>
              <a:cxnSpLocks/>
              <a:stCxn id="50" idx="0"/>
              <a:endCxn id="49" idx="2"/>
            </p:cNvCxnSpPr>
            <p:nvPr/>
          </p:nvCxnSpPr>
          <p:spPr>
            <a:xfrm flipV="1">
              <a:off x="6343301" y="3487852"/>
              <a:ext cx="0" cy="488838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4C1AA46A-247B-C005-984D-603DB6F10220}"/>
                </a:ext>
              </a:extLst>
            </p:cNvPr>
            <p:cNvCxnSpPr>
              <a:stCxn id="49" idx="0"/>
              <a:endCxn id="37" idx="1"/>
            </p:cNvCxnSpPr>
            <p:nvPr/>
          </p:nvCxnSpPr>
          <p:spPr>
            <a:xfrm rot="5400000" flipH="1" flipV="1">
              <a:off x="6965074" y="1185249"/>
              <a:ext cx="703066" cy="1946613"/>
            </a:xfrm>
            <a:prstGeom prst="bentConnector2">
              <a:avLst/>
            </a:prstGeom>
            <a:ln w="50800">
              <a:solidFill>
                <a:srgbClr val="C0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0938312B-C88E-1833-A059-600FE262BF1B}"/>
                </a:ext>
              </a:extLst>
            </p:cNvPr>
            <p:cNvCxnSpPr>
              <a:cxnSpLocks/>
              <a:stCxn id="38" idx="1"/>
              <a:endCxn id="50" idx="2"/>
            </p:cNvCxnSpPr>
            <p:nvPr/>
          </p:nvCxnSpPr>
          <p:spPr>
            <a:xfrm rot="10800000">
              <a:off x="6343302" y="4954454"/>
              <a:ext cx="1946613" cy="703066"/>
            </a:xfrm>
            <a:prstGeom prst="bentConnector2">
              <a:avLst/>
            </a:prstGeom>
            <a:ln w="50800">
              <a:solidFill>
                <a:srgbClr val="C0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4A4961E7-3B19-B64C-45EA-7952381E8072}"/>
                </a:ext>
              </a:extLst>
            </p:cNvPr>
            <p:cNvCxnSpPr>
              <a:cxnSpLocks/>
              <a:stCxn id="37" idx="3"/>
              <a:endCxn id="47" idx="0"/>
            </p:cNvCxnSpPr>
            <p:nvPr/>
          </p:nvCxnSpPr>
          <p:spPr>
            <a:xfrm>
              <a:off x="13456326" y="1807022"/>
              <a:ext cx="1822450" cy="1436367"/>
            </a:xfrm>
            <a:prstGeom prst="bentConnector2">
              <a:avLst/>
            </a:prstGeom>
            <a:ln w="50800">
              <a:solidFill>
                <a:srgbClr val="0070C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연결선: 꺾임 69">
              <a:extLst>
                <a:ext uri="{FF2B5EF4-FFF2-40B4-BE49-F238E27FC236}">
                  <a16:creationId xmlns:a16="http://schemas.microsoft.com/office/drawing/2014/main" id="{2B086D9F-A5CC-26DE-8C00-93EFD3EB6FD6}"/>
                </a:ext>
              </a:extLst>
            </p:cNvPr>
            <p:cNvCxnSpPr>
              <a:cxnSpLocks/>
              <a:stCxn id="47" idx="2"/>
              <a:endCxn id="38" idx="3"/>
            </p:cNvCxnSpPr>
            <p:nvPr/>
          </p:nvCxnSpPr>
          <p:spPr>
            <a:xfrm rot="5400000">
              <a:off x="13649368" y="4028111"/>
              <a:ext cx="1436367" cy="1822450"/>
            </a:xfrm>
            <a:prstGeom prst="bentConnector2">
              <a:avLst/>
            </a:prstGeom>
            <a:ln w="50800">
              <a:solidFill>
                <a:srgbClr val="0070C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767101F-35A3-802A-9179-8530A29C5D49}"/>
                </a:ext>
              </a:extLst>
            </p:cNvPr>
            <p:cNvSpPr txBox="1"/>
            <p:nvPr/>
          </p:nvSpPr>
          <p:spPr>
            <a:xfrm>
              <a:off x="13778340" y="1351732"/>
              <a:ext cx="18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spc="-1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FORWARD</a:t>
              </a:r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C61F8C2-2FB7-1E8C-7215-0A480EFE80F5}"/>
                </a:ext>
              </a:extLst>
            </p:cNvPr>
            <p:cNvSpPr txBox="1"/>
            <p:nvPr/>
          </p:nvSpPr>
          <p:spPr>
            <a:xfrm>
              <a:off x="5922134" y="1351732"/>
              <a:ext cx="18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spc="-1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73426AC-4583-F222-6F21-0EA38339D570}"/>
                </a:ext>
              </a:extLst>
            </p:cNvPr>
            <p:cNvSpPr txBox="1"/>
            <p:nvPr/>
          </p:nvSpPr>
          <p:spPr>
            <a:xfrm>
              <a:off x="14949437" y="9007504"/>
              <a:ext cx="18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spc="-10" dirty="0">
                  <a:latin typeface="Arial" panose="020B0604020202020204" pitchFamily="34" charset="0"/>
                  <a:cs typeface="Arial" panose="020B0604020202020204" pitchFamily="34" charset="0"/>
                </a:rPr>
                <a:t>More engaged</a:t>
              </a:r>
              <a:endParaRPr lang="ko-KR" altLang="en-US" dirty="0"/>
            </a:p>
          </p:txBody>
        </p:sp>
        <p:sp>
          <p:nvSpPr>
            <p:cNvPr id="99" name="화살표: 오른쪽 98">
              <a:extLst>
                <a:ext uri="{FF2B5EF4-FFF2-40B4-BE49-F238E27FC236}">
                  <a16:creationId xmlns:a16="http://schemas.microsoft.com/office/drawing/2014/main" id="{A7ECB430-5739-7DA8-47CA-990F9DF3B6E2}"/>
                </a:ext>
              </a:extLst>
            </p:cNvPr>
            <p:cNvSpPr/>
            <p:nvPr/>
          </p:nvSpPr>
          <p:spPr>
            <a:xfrm>
              <a:off x="6548476" y="8984412"/>
              <a:ext cx="8400961" cy="415515"/>
            </a:xfrm>
            <a:prstGeom prst="rightArrow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BD3948A5-2E6B-454F-8C39-915C9100017B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>
              <a:off x="10873120" y="6146402"/>
              <a:ext cx="0" cy="458603"/>
            </a:xfrm>
            <a:prstGeom prst="straightConnector1">
              <a:avLst/>
            </a:prstGeom>
            <a:ln w="50800">
              <a:solidFill>
                <a:schemeClr val="bg1">
                  <a:lumMod val="65000"/>
                </a:schemeClr>
              </a:solidFill>
              <a:prstDash val="sysDash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656BF6D-AFA6-2B87-DDFF-628C265D9CD6}"/>
                </a:ext>
              </a:extLst>
            </p:cNvPr>
            <p:cNvSpPr txBox="1"/>
            <p:nvPr/>
          </p:nvSpPr>
          <p:spPr>
            <a:xfrm>
              <a:off x="14205701" y="63321"/>
              <a:ext cx="30400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600" spc="-1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Moderates both pathways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9508DD9-7FBD-3F16-9AD6-C3773DD86088}"/>
                </a:ext>
              </a:extLst>
            </p:cNvPr>
            <p:cNvSpPr txBox="1"/>
            <p:nvPr/>
          </p:nvSpPr>
          <p:spPr>
            <a:xfrm>
              <a:off x="12395201" y="6692485"/>
              <a:ext cx="485059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600" spc="-1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Synthesis device </a:t>
              </a:r>
              <a:r>
                <a:rPr lang="en-US" altLang="ko-KR" sz="1600" spc="-1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 not a validated </a:t>
              </a:r>
              <a:r>
                <a:rPr lang="en-US" altLang="ko-KR" sz="1600" spc="-1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behavioural</a:t>
              </a:r>
              <a:r>
                <a:rPr lang="en-US" altLang="ko-KR" sz="1600" spc="-1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scale</a:t>
              </a:r>
              <a:endParaRPr lang="ko-KR" altLang="en-US" sz="16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CE1A7F-BD6B-2AEF-D134-009A57E6AA3D}"/>
                </a:ext>
              </a:extLst>
            </p:cNvPr>
            <p:cNvSpPr txBox="1"/>
            <p:nvPr/>
          </p:nvSpPr>
          <p:spPr>
            <a:xfrm>
              <a:off x="10370317" y="3567146"/>
              <a:ext cx="18851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spc="-1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</a:t>
              </a:r>
              <a:endPara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4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360</Words>
  <Application>Microsoft Office PowerPoint</Application>
  <PresentationFormat>와이드스크린</PresentationFormat>
  <Paragraphs>86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조현빈</dc:creator>
  <cp:lastModifiedBy>조현빈</cp:lastModifiedBy>
  <cp:revision>5</cp:revision>
  <dcterms:created xsi:type="dcterms:W3CDTF">2026-09-17T09:47:48Z</dcterms:created>
  <dcterms:modified xsi:type="dcterms:W3CDTF">2026-09-17T12:46:36Z</dcterms:modified>
</cp:coreProperties>
</file>